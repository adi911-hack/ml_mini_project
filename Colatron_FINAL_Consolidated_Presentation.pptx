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FINAL CONSOLIDATED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COLATRON | From Research to Tested 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52239"/>
                </a:solidFill>
                <a:latin typeface="Aptos"/>
              </a:defRPr>
            </a:pPr>
            <a:r>
              <a:t>End-to-End Text-to-Speech Synthesis</a:t>
            </a:r>
          </a:p>
          <a:p>
            <a:pPr>
              <a:spcAft>
                <a:spcPts val="700"/>
              </a:spcAft>
              <a:defRPr sz="2800" b="1">
                <a:solidFill>
                  <a:srgbClr val="152239"/>
                </a:solidFill>
                <a:latin typeface="Aptos"/>
              </a:defRPr>
            </a:pPr>
            <a:r>
              <a:t>Paper review • code audit • custom data • measurable upgrade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51960"/>
            <a:ext cx="3108960" cy="16002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970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086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6E80"/>
                </a:solidFill>
                <a:latin typeface="Aptos"/>
              </a:defRPr>
            </a:pPr>
            <a:r>
              <a:t>New audio recordings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251960"/>
            <a:ext cx="3108960" cy="16002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48970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08684"/>
                </a:solidFill>
                <a:latin typeface="Aptos"/>
              </a:defRPr>
            </a:pPr>
            <a:r>
              <a:t>82.7%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166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6E80"/>
                </a:solidFill>
                <a:latin typeface="Aptos"/>
              </a:defRPr>
            </a:pPr>
            <a:r>
              <a:t>Less duration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251960"/>
            <a:ext cx="3108960" cy="16002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48970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08684"/>
                </a:solidFill>
                <a:latin typeface="Aptos"/>
              </a:defRPr>
            </a:pPr>
            <a:r>
              <a:t>SVR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6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6E80"/>
                </a:solidFill>
                <a:latin typeface="Aptos"/>
              </a:defRPr>
            </a:pPr>
            <a:r>
              <a:t>Adapted model tested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 | Why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Speech synthesis converts written text into an audio waveform.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7860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05456"/>
            <a:ext cx="10515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Traditional systems require explicit pronunciation and audio-processing steps.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3872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65576"/>
            <a:ext cx="10515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The paper compares machine-learning methods that learn mappings from text features to speech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49884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425696"/>
            <a:ext cx="10515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Our objective: inspect the original work, run an available adaptation, test new speech data, and evaluate a specific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2 | What did the researchers build?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2743200" cy="694944"/>
          </a:xfrm>
          <a:prstGeom prst="round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FCFD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737360"/>
            <a:ext cx="7589520" cy="69494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837943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Sentence / character or phoneme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2743200" cy="694944"/>
          </a:xfrm>
          <a:prstGeom prst="round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712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FCFD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743200"/>
            <a:ext cx="7589520" cy="69494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843784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Text encoding + training audio spectrogram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49039"/>
            <a:ext cx="2743200" cy="694944"/>
          </a:xfrm>
          <a:prstGeom prst="round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FCF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3749039"/>
            <a:ext cx="7589520" cy="69494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49624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SVR | simple neural network | Seq2Seq with 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2743200" cy="694944"/>
          </a:xfrm>
          <a:prstGeom prst="round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828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FCFD"/>
                </a:solidFill>
                <a:latin typeface="Aptos"/>
              </a:defRPr>
            </a:pPr>
            <a:r>
              <a:t>RECONSTRUCTION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4754880"/>
            <a:ext cx="7589520" cy="69494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855464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Predicted spectrogram → WAV audio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3 | Original dataset and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LJ Speech dataset: about 13,100 paired single-speaker clips and transcripts.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42616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69464"/>
            <a:ext cx="105156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The paper experimented with support vector regression (SVR), a simple neural network, and an attention-based sequence-to-sequence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66744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93592"/>
            <a:ext cx="105156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The released ZIP includes three model-code folders, but not the complete training resources or a trained Seq2Seq checkpoint.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90872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617720"/>
            <a:ext cx="105156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We focus our runnable tests on a repaired, small-data SVR demonstrator.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4 | What the paper reported — not our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SVR (paper)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1950720" cy="384048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5520" y="18013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239"/>
                </a:solidFill>
                <a:latin typeface="Aptos"/>
              </a:defRPr>
            </a:pPr>
            <a:r>
              <a:t>1.000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Simple NN (paper)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697480"/>
            <a:ext cx="3316224" cy="384048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1024" y="2670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239"/>
                </a:solidFill>
                <a:latin typeface="Aptos"/>
              </a:defRPr>
            </a:pPr>
            <a:r>
              <a:t>1.700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Seq2Seq (paper)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566160"/>
            <a:ext cx="4876800" cy="384048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1599" y="3538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239"/>
                </a:solidFill>
                <a:latin typeface="Aptos"/>
              </a:defRPr>
            </a:pPr>
            <a:r>
              <a:t>2.500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606E80"/>
                </a:solidFill>
                <a:latin typeface="Aptos"/>
              </a:defRPr>
            </a:pPr>
            <a:r>
              <a:t>Mean Opinion Score (MOS): the paper’s listener-rated speech quality measure. Higher is better. These scores were not reproduced by our experiment.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5 | What was available in their ZIP?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96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Original source supplied: SVR, simple NN, and Seq2Seq Python 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60904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87752"/>
            <a:ext cx="10515600" cy="96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Only two LJ Speech mel-spectrogram arrays were supplied in the archive.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30168"/>
            <a:ext cx="10515600" cy="96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Missing inputs / helpers / weights prevent faithful execution of the complete original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45736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672583"/>
            <a:ext cx="10515600" cy="96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Adaptation uses the 80-bin mel features available, rather than claiming an exact 1,025-bin linear-spectrogram reproduction.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6 | What did we actually implement and run?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Read two supplied LJ Speech mel arrays and matching training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59736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86584"/>
            <a:ext cx="10515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Encode text as padded numerical character features.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00984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27832"/>
            <a:ext cx="10515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Fit per-frame, multi-output polynomial-kernel SVR regressors on the available examples.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2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069080"/>
            <a:ext cx="10515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Predict mel features, invert to audio, and save WAV outputs.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83480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910328"/>
            <a:ext cx="10515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Result: original-text and five new-text WAV files generated; intelligibility remains unverified.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7 | Independent dataset created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606E80"/>
                </a:solidFill>
                <a:latin typeface="Aptos"/>
              </a:defRPr>
            </a:pPr>
            <a:r>
              <a:t>Five self-recorded WAV/M4A files, paired with confirmed transcripts: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84831"/>
            <a:ext cx="10607040" cy="55778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1. Hello, my name is Spoorthy.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157984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8684"/>
                </a:solidFill>
                <a:latin typeface="Aptos"/>
              </a:defRPr>
            </a:pPr>
            <a:r>
              <a:t>5.483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10607040" cy="55778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6207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2. Machine learning is changing the world.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8620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8684"/>
                </a:solidFill>
                <a:latin typeface="Aptos"/>
              </a:defRPr>
            </a:pPr>
            <a:r>
              <a:t>5.824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93008"/>
            <a:ext cx="10607040" cy="55778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3. Today is a beautiful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5661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8684"/>
                </a:solidFill>
                <a:latin typeface="Aptos"/>
              </a:defRPr>
            </a:pPr>
            <a:r>
              <a:t>4.288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97096"/>
            <a:ext cx="10607040" cy="55778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7024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4. Artificial intelligence can generate speech.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27024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8684"/>
                </a:solidFill>
                <a:latin typeface="Aptos"/>
              </a:defRPr>
            </a:pPr>
            <a:r>
              <a:t>4.843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01183"/>
            <a:ext cx="10607040" cy="557784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743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5. This is a test of the Colatron project.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8684"/>
                </a:solidFill>
                <a:latin typeface="Aptos"/>
              </a:defRPr>
            </a:pPr>
            <a:r>
              <a:t>5.675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8 | What went wrong with the baseline?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337560" cy="16002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08684"/>
                </a:solidFill>
                <a:latin typeface="Aptos"/>
              </a:defRPr>
            </a:pPr>
            <a:r>
              <a:t>1.200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6E80"/>
                </a:solidFill>
                <a:latin typeface="Aptos"/>
              </a:defRPr>
            </a:pPr>
            <a:r>
              <a:t>Fixed synthesized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337560" cy="16002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75104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08684"/>
                </a:solidFill>
                <a:latin typeface="Aptos"/>
              </a:defRPr>
            </a:pPr>
            <a:r>
              <a:t>5.223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6E80"/>
                </a:solidFill>
                <a:latin typeface="Aptos"/>
              </a:defRPr>
            </a:pPr>
            <a:r>
              <a:t>Mean reference recording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37560" cy="16002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75104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C14D53"/>
                </a:solidFill>
                <a:latin typeface="Aptos"/>
              </a:defRPr>
            </a:pPr>
            <a:r>
              <a:t>4.023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6E80"/>
                </a:solidFill>
                <a:latin typeface="Aptos"/>
              </a:defRPr>
            </a:pPr>
            <a:r>
              <a:t>Mean baseline absolute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94760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21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The adapted pipeline produced 1.2-second audio for each new prompt.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07992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434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A previous trimming attempt shortened audio to 0.225 seconds and was rejected.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21224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480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Goal of the new change: predict a more appropriate output length, not claim improved pronunciation.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9 | Exactly what code did we change?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074920" cy="347472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874519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52239"/>
                </a:solidFill>
                <a:latin typeface="Aptos"/>
              </a:defRPr>
            </a:pPr>
            <a:r>
              <a:t>BEFORE — fixed output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SVR predicts spectrogram</a:t>
            </a:r>
          </a:p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Convert to audio</a:t>
            </a:r>
          </a:p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900" b="0">
                <a:solidFill>
                  <a:srgbClr val="152239"/>
                </a:solidFill>
                <a:latin typeface="Aptos"/>
              </a:defRPr>
            </a:pPr>
            <a:r>
              <a:t>Save ~1.2 s WAV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45920"/>
            <a:ext cx="5074920" cy="347472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874519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8684"/>
                </a:solidFill>
                <a:latin typeface="Aptos"/>
              </a:defRPr>
            </a:pPr>
            <a:r>
              <a:t>AFTER — duration-calibrated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487168"/>
            <a:ext cx="4480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SVR predicts spectrogram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Convert to audio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Ridge duration estimate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Time-stretch and save 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440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C14D53"/>
                </a:solidFill>
                <a:latin typeface="Aptos"/>
              </a:defRPr>
            </a:pPr>
            <a:r>
              <a:t>Implementation: compare_duration.py and run_calibrated.py. Original SVR weights, loss, and architecture were not 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10 | Why Ridge regression and time stretching?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Ridge regression (α = 1000) predicts expected speaking duration using transcript character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78024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04872"/>
            <a:ext cx="10515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It is a lightweight secondary ML model, trained on the recorded sentence durations.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7560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64408"/>
            <a:ext cx="10515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Phase-vocoder time stretching changes the waveform duration after audio generation.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97096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3944"/>
            <a:ext cx="10515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Predicting duration is assessed by leave-one-out: fit on 4 recordings, predict the fifth, repeat 5 times.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056631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983479"/>
            <a:ext cx="10515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The demonstration WAVs are fit with all 5 recordings; the reported error improvement is from held-out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11 | Main result — held-out duration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Baseline MAE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103120"/>
            <a:ext cx="5231831" cy="384048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6631" y="2075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239"/>
                </a:solidFill>
                <a:latin typeface="Aptos"/>
              </a:defRPr>
            </a:pPr>
            <a:r>
              <a:t>4.023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52239"/>
                </a:solidFill>
                <a:latin typeface="Aptos"/>
              </a:defRPr>
            </a:pPr>
            <a:r>
              <a:t>Calibrated 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971800"/>
            <a:ext cx="906434" cy="384048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1234" y="29443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239"/>
                </a:solidFill>
                <a:latin typeface="Aptos"/>
              </a:defRPr>
            </a:pPr>
            <a:r>
              <a:t>0.697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60520"/>
            <a:ext cx="10424160" cy="105156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79976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108684"/>
                </a:solidFill>
                <a:latin typeface="Aptos"/>
              </a:defRPr>
            </a:pPr>
            <a:r>
              <a:t>82.7% lower duration MAE (4.023 s → 0.697 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06E80"/>
                </a:solidFill>
                <a:latin typeface="Aptos"/>
              </a:defRPr>
            </a:pPr>
            <a:r>
              <a:t>Metric: mean absolute error in seconds, 5 leave-one-out folds. Lower is better.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12 | Per-recording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239"/>
                </a:solidFill>
                <a:latin typeface="Aptos"/>
              </a:defRPr>
            </a:pPr>
            <a:r>
              <a:t>Test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737360"/>
            <a:ext cx="4856305" cy="219456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2029967"/>
            <a:ext cx="467148" cy="219456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0992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52239"/>
                </a:solidFill>
                <a:latin typeface="Aptos"/>
              </a:defRPr>
            </a:pPr>
            <a:r>
              <a:t>4.283 → 0.412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94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239"/>
                </a:solidFill>
                <a:latin typeface="Aptos"/>
              </a:defRPr>
            </a:pPr>
            <a:r>
              <a:t>Test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569464"/>
            <a:ext cx="5242950" cy="219456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2862072"/>
            <a:ext cx="828848" cy="219456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4203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52239"/>
                </a:solidFill>
                <a:latin typeface="Aptos"/>
              </a:defRPr>
            </a:pPr>
            <a:r>
              <a:t>4.624 → 0.731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239"/>
                </a:solidFill>
                <a:latin typeface="Aptos"/>
              </a:defRPr>
            </a:pPr>
            <a:r>
              <a:t>Test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3401568"/>
            <a:ext cx="3501347" cy="219456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3694176"/>
            <a:ext cx="1365162" cy="219456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74136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52239"/>
                </a:solidFill>
                <a:latin typeface="Aptos"/>
              </a:defRPr>
            </a:pPr>
            <a:r>
              <a:t>3.088 → 1.204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33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239"/>
                </a:solidFill>
                <a:latin typeface="Aptos"/>
              </a:defRPr>
            </a:pPr>
            <a:r>
              <a:t>Test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4233672"/>
            <a:ext cx="4130637" cy="219456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0" y="4526280"/>
            <a:ext cx="676912" cy="219456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52239"/>
                </a:solidFill>
                <a:latin typeface="Aptos"/>
              </a:defRPr>
            </a:pPr>
            <a:r>
              <a:t>3.643 → 0.597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657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239"/>
                </a:solidFill>
                <a:latin typeface="Aptos"/>
              </a:defRPr>
            </a:pPr>
            <a:r>
              <a:t>Test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5065776"/>
            <a:ext cx="5074005" cy="219456"/>
          </a:xfrm>
          <a:prstGeom prst="rect">
            <a:avLst/>
          </a:prstGeom>
          <a:solidFill>
            <a:srgbClr val="EC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0" y="5358384"/>
            <a:ext cx="614549" cy="219456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03834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52239"/>
                </a:solidFill>
                <a:latin typeface="Aptos"/>
              </a:defRPr>
            </a:pPr>
            <a:r>
              <a:t>4.475 → 0.542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264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6E80"/>
                </a:solidFill>
                <a:latin typeface="Aptos"/>
              </a:defRPr>
            </a:pPr>
            <a:r>
              <a:t>Orange = baseline duration absolute error  •  Teal = calibrated held-out error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13 | What changed, what did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09928"/>
            <a:ext cx="5166360" cy="3977639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8366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08684"/>
                </a:solidFill>
                <a:latin typeface="Aptos"/>
              </a:defRPr>
            </a:pPr>
            <a:r>
              <a:t>Verified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32888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Original code inspected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Adapted SVR ran successfully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5 new recordings processed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Duration estimator added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Duration prediction error reduced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09928"/>
            <a:ext cx="5166360" cy="3977639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8366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C14D53"/>
                </a:solidFill>
                <a:latin typeface="Aptos"/>
              </a:defRPr>
            </a:pPr>
            <a:r>
              <a:t>Not established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32888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Faithful original Seq2Seq run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Better pronunciation / intelligibility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Higher speech quality MOS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Improvement of SVR core weights</a:t>
            </a:r>
          </a:p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• Generalization beyond 5 samples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14 | How I would demonstrate it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Show the supplied archive: original SVR, NN, Seq2Seq files and missing-data limitation.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328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59736"/>
            <a:ext cx="10515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Show the adapted SVR script (run_svr.py); point out two training examples and WAV generation.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472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374136"/>
            <a:ext cx="10515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Open one baseline_custom_*.wav and one calibrated_custom_*.wav; explain the change in duration.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3616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88536"/>
            <a:ext cx="10515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Run compare_duration.py; display duration_comparison.csv and 82.7% MAE reduction.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2760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202936"/>
            <a:ext cx="10515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Explain: our upgrade fixes timing prediction, not proven speech intelligibility.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15 | Conclusions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We successfully ran an adapted SVR pipeline on the source data 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96312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23160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We collected a new five-recording dataset and matched it to transcripts.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74136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300984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A postprocessing duration model lowered held-out duration error from 4.023 s to 0.697 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51960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7880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Limitations: tiny dataset, incomplete original release, no confirmed speech quality improvement.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9783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56631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52239"/>
                </a:solidFill>
                <a:latin typeface="Aptos"/>
              </a:defRPr>
            </a:pPr>
            <a:r>
              <a:t>Next meaningful upgrade: obtain full data and checkpoint, assess intelligibility and retrain or evaluate the original Seq2Seq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COLATRON • MACHINE LEARNING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2239"/>
                </a:solidFill>
                <a:latin typeface="Aptos"/>
              </a:defRPr>
            </a:pPr>
            <a:r>
              <a:t>16 | References and 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E80"/>
                </a:solidFill>
                <a:latin typeface="Aptos"/>
              </a:defRPr>
            </a:pPr>
            <a:r>
              <a:t>Stanford CS229 (2018) • adapted SVR reproduction and independent duration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0868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45336"/>
            <a:ext cx="105156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Stanford CS229 (2018): End-to-End Text-to-Speech Synthesis (Colatron), original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8716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14015"/>
            <a:ext cx="105156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Uploaded research source archive: submit_code.zip (SVR, NN, Seq2Seq scripts).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5584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82696"/>
            <a:ext cx="105156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Reproduction: run_svr.py and run_calibrated.py (adapted implementation).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24527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51375"/>
            <a:ext cx="105156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Evaluation: compare_duration.py, duration_comparison.csv, duration_summary.json.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093208"/>
            <a:ext cx="100584" cy="100584"/>
          </a:xfrm>
          <a:prstGeom prst="rect">
            <a:avLst/>
          </a:prstGeom>
          <a:solidFill>
            <a:srgbClr val="108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20056"/>
            <a:ext cx="105156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52239"/>
                </a:solidFill>
                <a:latin typeface="Aptos"/>
              </a:defRPr>
            </a:pPr>
            <a:r>
              <a:t>New independent dataset: five recordings with confirmed corresponding transcripts.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